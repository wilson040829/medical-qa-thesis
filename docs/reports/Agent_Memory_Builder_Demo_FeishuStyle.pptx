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5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智能体长期记忆构筑系统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0" y="128016"/>
            <a:ext cx="914400" cy="384048"/>
          </a:xfrm>
          <a:prstGeom prst="roundRect">
            <a:avLst/>
          </a:prstGeom>
          <a:solidFill>
            <a:srgbClr val="0E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36D85"/>
                </a:solidFill>
              </a:defRPr>
            </a:pPr>
            <a:r>
              <a:t>让 AI 记得住、想得清、答得稳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F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1D28"/>
                </a:solidFill>
              </a:defRPr>
            </a:pPr>
            <a:r>
              <a:t>项目关键词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645920"/>
            <a:ext cx="109728" cy="109728"/>
          </a:xfrm>
          <a:prstGeom prst="ellipse">
            <a:avLst/>
          </a:prstGeom>
          <a:solidFill>
            <a:srgbClr val="49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892040" cy="3703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Long-term Memory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Memory Distillation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Retrieval before Answer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Memory Governance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F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2763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1D28"/>
                </a:solidFill>
              </a:defRPr>
            </a:pPr>
            <a:r>
              <a:t>演示目标</a:t>
            </a:r>
          </a:p>
        </p:txBody>
      </p:sp>
      <p:sp>
        <p:nvSpPr>
          <p:cNvPr id="12" name="Oval 11"/>
          <p:cNvSpPr/>
          <p:nvPr/>
        </p:nvSpPr>
        <p:spPr>
          <a:xfrm>
            <a:off x="6263640" y="1645920"/>
            <a:ext cx="109728" cy="109728"/>
          </a:xfrm>
          <a:prstGeom prst="ellipse">
            <a:avLst/>
          </a:prstGeom>
          <a:solidFill>
            <a:srgbClr val="2DB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011680"/>
            <a:ext cx="4892040" cy="3703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解释为什么要做记忆系统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展示整体架构与核心流程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说明可落地实现与价值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92240"/>
            <a:ext cx="11064240" cy="9144"/>
          </a:xfrm>
          <a:prstGeom prst="rect">
            <a:avLst/>
          </a:prstGeom>
          <a:solidFill>
            <a:srgbClr val="DF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36D85"/>
                </a:solidFill>
              </a:defRPr>
            </a:pPr>
            <a:r>
              <a:t>Agent Memory Builder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5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为什么要做这个项目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0" y="128016"/>
            <a:ext cx="914400" cy="384048"/>
          </a:xfrm>
          <a:prstGeom prst="roundRect">
            <a:avLst/>
          </a:prstGeom>
          <a:solidFill>
            <a:srgbClr val="0E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36D85"/>
                </a:solidFill>
              </a:defRPr>
            </a:pPr>
            <a:r>
              <a:t>先讲问题，再讲方案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F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3619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1D28"/>
                </a:solidFill>
              </a:defRPr>
            </a:pPr>
            <a:r>
              <a:t>常见问题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554480"/>
            <a:ext cx="109728" cy="109728"/>
          </a:xfrm>
          <a:prstGeom prst="ellipse">
            <a:avLst/>
          </a:prstGeom>
          <a:solidFill>
            <a:srgbClr val="49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20240"/>
            <a:ext cx="3063239" cy="3794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对话变长后遗忘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多轮回答前后不一致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中断后无法续跑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F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53619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1D28"/>
                </a:solidFill>
              </a:defRPr>
            </a:pPr>
            <a:r>
              <a:t>业务痛点</a:t>
            </a:r>
          </a:p>
        </p:txBody>
      </p:sp>
      <p:sp>
        <p:nvSpPr>
          <p:cNvPr id="12" name="Oval 11"/>
          <p:cNvSpPr/>
          <p:nvPr/>
        </p:nvSpPr>
        <p:spPr>
          <a:xfrm>
            <a:off x="4434840" y="1554480"/>
            <a:ext cx="109728" cy="109728"/>
          </a:xfrm>
          <a:prstGeom prst="ellipse">
            <a:avLst/>
          </a:prstGeom>
          <a:solidFill>
            <a:srgbClr val="49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920240"/>
            <a:ext cx="3063239" cy="3794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用户反复重复背景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助手缺少持续上下文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体验不稳定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F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53619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1D28"/>
                </a:solidFill>
              </a:defRPr>
            </a:pPr>
            <a:r>
              <a:t>核心诉求</a:t>
            </a:r>
          </a:p>
        </p:txBody>
      </p:sp>
      <p:sp>
        <p:nvSpPr>
          <p:cNvPr id="16" name="Oval 15"/>
          <p:cNvSpPr/>
          <p:nvPr/>
        </p:nvSpPr>
        <p:spPr>
          <a:xfrm>
            <a:off x="8092440" y="1554480"/>
            <a:ext cx="109728" cy="109728"/>
          </a:xfrm>
          <a:prstGeom prst="ellipse">
            <a:avLst/>
          </a:prstGeom>
          <a:solidFill>
            <a:srgbClr val="2DB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920240"/>
            <a:ext cx="3063239" cy="3794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记忆可提取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记忆可检索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记忆可治理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92240"/>
            <a:ext cx="11064240" cy="9144"/>
          </a:xfrm>
          <a:prstGeom prst="rect">
            <a:avLst/>
          </a:prstGeom>
          <a:solidFill>
            <a:srgbClr val="DF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36D85"/>
                </a:solidFill>
              </a:defRPr>
            </a:pPr>
            <a:r>
              <a:t>Agent Memory Builder 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5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项目目标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0" y="128016"/>
            <a:ext cx="914400" cy="384048"/>
          </a:xfrm>
          <a:prstGeom prst="roundRect">
            <a:avLst/>
          </a:prstGeom>
          <a:solidFill>
            <a:srgbClr val="0E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36D85"/>
                </a:solidFill>
              </a:defRPr>
            </a:pPr>
            <a:r>
              <a:t>四个目标闭环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3035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F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1D28"/>
                </a:solidFill>
              </a:defRPr>
            </a:pPr>
            <a:r>
              <a:t>目标 A/B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645920"/>
            <a:ext cx="109728" cy="109728"/>
          </a:xfrm>
          <a:prstGeom prst="ellipse">
            <a:avLst/>
          </a:prstGeom>
          <a:solidFill>
            <a:srgbClr val="49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89204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自动提取高价值记忆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回答前优先检索相关记忆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53035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F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822191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1D28"/>
                </a:solidFill>
              </a:defRPr>
            </a:pPr>
            <a:r>
              <a:t>目标 C/D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840480"/>
            <a:ext cx="109728" cy="109728"/>
          </a:xfrm>
          <a:prstGeom prst="ellipse">
            <a:avLst/>
          </a:prstGeom>
          <a:solidFill>
            <a:srgbClr val="2DB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206240"/>
            <a:ext cx="489204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支持去重/冲突/过期清理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可视化后台可观测可管理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5303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F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62763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1D28"/>
                </a:solidFill>
              </a:defRPr>
            </a:pPr>
            <a:r>
              <a:t>预期结果</a:t>
            </a:r>
          </a:p>
        </p:txBody>
      </p:sp>
      <p:sp>
        <p:nvSpPr>
          <p:cNvPr id="16" name="Oval 15"/>
          <p:cNvSpPr/>
          <p:nvPr/>
        </p:nvSpPr>
        <p:spPr>
          <a:xfrm>
            <a:off x="6263640" y="1645920"/>
            <a:ext cx="109728" cy="109728"/>
          </a:xfrm>
          <a:prstGeom prst="ellipse">
            <a:avLst/>
          </a:prstGeom>
          <a:solidFill>
            <a:srgbClr val="49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011680"/>
            <a:ext cx="4892040" cy="3520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多轮一致性提升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长任务成功率提升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Token 成本下降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工程可维护性提升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92240"/>
            <a:ext cx="11064240" cy="9144"/>
          </a:xfrm>
          <a:prstGeom prst="rect">
            <a:avLst/>
          </a:prstGeom>
          <a:solidFill>
            <a:srgbClr val="DF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36D85"/>
                </a:solidFill>
              </a:defRPr>
            </a:pPr>
            <a:r>
              <a:t>Agent Memory Builder Demo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5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系统架构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0" y="128016"/>
            <a:ext cx="914400" cy="384048"/>
          </a:xfrm>
          <a:prstGeom prst="roundRect">
            <a:avLst/>
          </a:prstGeom>
          <a:solidFill>
            <a:srgbClr val="0E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36D85"/>
                </a:solidFill>
              </a:defRPr>
            </a:pPr>
            <a:r>
              <a:t>输入 -&gt; 记忆 -&gt; 生成 -&gt; 治理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1945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F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3619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1D28"/>
                </a:solidFill>
              </a:defRPr>
            </a:pPr>
            <a:r>
              <a:t>用户层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554480"/>
            <a:ext cx="109728" cy="109728"/>
          </a:xfrm>
          <a:prstGeom prst="ellipse">
            <a:avLst/>
          </a:prstGeom>
          <a:solidFill>
            <a:srgbClr val="49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20240"/>
            <a:ext cx="1783080" cy="3703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Web Chat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Admin 控制台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1371600"/>
            <a:ext cx="2560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F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536192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1D28"/>
                </a:solidFill>
              </a:defRPr>
            </a:pPr>
            <a:r>
              <a:t>服务层</a:t>
            </a:r>
          </a:p>
        </p:txBody>
      </p:sp>
      <p:sp>
        <p:nvSpPr>
          <p:cNvPr id="12" name="Oval 11"/>
          <p:cNvSpPr/>
          <p:nvPr/>
        </p:nvSpPr>
        <p:spPr>
          <a:xfrm>
            <a:off x="3154679" y="1554480"/>
            <a:ext cx="109728" cy="109728"/>
          </a:xfrm>
          <a:prstGeom prst="ellipse">
            <a:avLst/>
          </a:prstGeom>
          <a:solidFill>
            <a:srgbClr val="49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920240"/>
            <a:ext cx="2148839" cy="3703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Chat API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Session Service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LLM Service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1371600"/>
            <a:ext cx="2560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F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536192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1D28"/>
                </a:solidFill>
              </a:defRPr>
            </a:pPr>
            <a:r>
              <a:t>记忆层</a:t>
            </a:r>
          </a:p>
        </p:txBody>
      </p:sp>
      <p:sp>
        <p:nvSpPr>
          <p:cNvPr id="16" name="Oval 15"/>
          <p:cNvSpPr/>
          <p:nvPr/>
        </p:nvSpPr>
        <p:spPr>
          <a:xfrm>
            <a:off x="5897880" y="1554480"/>
            <a:ext cx="109728" cy="109728"/>
          </a:xfrm>
          <a:prstGeom prst="ellipse">
            <a:avLst/>
          </a:prstGeom>
          <a:solidFill>
            <a:srgbClr val="2DB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1920240"/>
            <a:ext cx="2148839" cy="3703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Writer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Retriever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Distiller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95360" y="1371600"/>
            <a:ext cx="2926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F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3960" y="1536192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1D28"/>
                </a:solidFill>
              </a:defRPr>
            </a:pPr>
            <a:r>
              <a:t>存储层</a:t>
            </a:r>
          </a:p>
        </p:txBody>
      </p:sp>
      <p:sp>
        <p:nvSpPr>
          <p:cNvPr id="20" name="Oval 19"/>
          <p:cNvSpPr/>
          <p:nvPr/>
        </p:nvSpPr>
        <p:spPr>
          <a:xfrm>
            <a:off x="8641080" y="1554480"/>
            <a:ext cx="109728" cy="109728"/>
          </a:xfrm>
          <a:prstGeom prst="ellipse">
            <a:avLst/>
          </a:prstGeom>
          <a:solidFill>
            <a:srgbClr val="49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1920240"/>
            <a:ext cx="2514600" cy="3703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JSONL / DB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指标与日志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可扩展向量库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492240"/>
            <a:ext cx="11064240" cy="9144"/>
          </a:xfrm>
          <a:prstGeom prst="rect">
            <a:avLst/>
          </a:prstGeom>
          <a:solidFill>
            <a:srgbClr val="DF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36D85"/>
                </a:solidFill>
              </a:defRPr>
            </a:pPr>
            <a:r>
              <a:t>Agent Memory Builder Demo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5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记忆数据模型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0" y="128016"/>
            <a:ext cx="914400" cy="384048"/>
          </a:xfrm>
          <a:prstGeom prst="roundRect">
            <a:avLst/>
          </a:prstGeom>
          <a:solidFill>
            <a:srgbClr val="0E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36D85"/>
                </a:solidFill>
              </a:defRPr>
            </a:pPr>
            <a:r>
              <a:t>结构化是治理的前提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669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F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1D28"/>
                </a:solidFill>
              </a:defRPr>
            </a:pPr>
            <a:r>
              <a:t>字段设计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645920"/>
            <a:ext cx="109728" cy="109728"/>
          </a:xfrm>
          <a:prstGeom prst="ellipse">
            <a:avLst/>
          </a:prstGeom>
          <a:solidFill>
            <a:srgbClr val="49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257800" cy="3703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memory_id / session_id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type: fact/preference/task/summary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content + confidence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timestamp + source_turn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463040"/>
            <a:ext cx="49377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F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1627632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1D28"/>
                </a:solidFill>
              </a:defRPr>
            </a:pPr>
            <a:r>
              <a:t>设计价值</a:t>
            </a:r>
          </a:p>
        </p:txBody>
      </p:sp>
      <p:sp>
        <p:nvSpPr>
          <p:cNvPr id="12" name="Oval 11"/>
          <p:cNvSpPr/>
          <p:nvPr/>
        </p:nvSpPr>
        <p:spPr>
          <a:xfrm>
            <a:off x="6629400" y="1645920"/>
            <a:ext cx="109728" cy="109728"/>
          </a:xfrm>
          <a:prstGeom prst="ellipse">
            <a:avLst/>
          </a:prstGeom>
          <a:solidFill>
            <a:srgbClr val="2DB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2011680"/>
            <a:ext cx="4526280" cy="3703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支持检索排序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支持冲突检测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支持生命周期管理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支持审计追踪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92240"/>
            <a:ext cx="11064240" cy="9144"/>
          </a:xfrm>
          <a:prstGeom prst="rect">
            <a:avLst/>
          </a:prstGeom>
          <a:solidFill>
            <a:srgbClr val="DF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36D85"/>
                </a:solidFill>
              </a:defRPr>
            </a:pPr>
            <a:r>
              <a:t>Agent Memory Builder Demo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5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核心能力1：记忆写入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0" y="128016"/>
            <a:ext cx="914400" cy="384048"/>
          </a:xfrm>
          <a:prstGeom prst="roundRect">
            <a:avLst/>
          </a:prstGeom>
          <a:solidFill>
            <a:srgbClr val="0E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36D85"/>
                </a:solidFill>
              </a:defRPr>
            </a:pPr>
            <a:r>
              <a:t>写入有选择，不是全量记录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F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1D28"/>
                </a:solidFill>
              </a:defRPr>
            </a:pPr>
            <a:r>
              <a:t>写入策略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645920"/>
            <a:ext cx="109728" cy="109728"/>
          </a:xfrm>
          <a:prstGeom prst="ellipse">
            <a:avLst/>
          </a:prstGeom>
          <a:solidFill>
            <a:srgbClr val="49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892040" cy="3703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抽取稳定事实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抽取用户偏好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抽取任务状态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F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2763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1D28"/>
                </a:solidFill>
              </a:defRPr>
            </a:pPr>
            <a:r>
              <a:t>质量控制</a:t>
            </a:r>
          </a:p>
        </p:txBody>
      </p:sp>
      <p:sp>
        <p:nvSpPr>
          <p:cNvPr id="12" name="Oval 11"/>
          <p:cNvSpPr/>
          <p:nvPr/>
        </p:nvSpPr>
        <p:spPr>
          <a:xfrm>
            <a:off x="6263640" y="1645920"/>
            <a:ext cx="109728" cy="109728"/>
          </a:xfrm>
          <a:prstGeom prst="ellipse">
            <a:avLst/>
          </a:prstGeom>
          <a:solidFill>
            <a:srgbClr val="2DB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011680"/>
            <a:ext cx="4892040" cy="3703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低置信度不入库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重复内容降权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敏感信息可过滤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92240"/>
            <a:ext cx="11064240" cy="9144"/>
          </a:xfrm>
          <a:prstGeom prst="rect">
            <a:avLst/>
          </a:prstGeom>
          <a:solidFill>
            <a:srgbClr val="DF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36D85"/>
                </a:solidFill>
              </a:defRPr>
            </a:pPr>
            <a:r>
              <a:t>Agent Memory Builder Demo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5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核心能力2：记忆蒸馏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0" y="128016"/>
            <a:ext cx="914400" cy="384048"/>
          </a:xfrm>
          <a:prstGeom prst="roundRect">
            <a:avLst/>
          </a:prstGeom>
          <a:solidFill>
            <a:srgbClr val="0E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36D85"/>
                </a:solidFill>
              </a:defRPr>
            </a:pPr>
            <a:r>
              <a:t>把长历史压缩成高价值记忆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F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1D28"/>
                </a:solidFill>
              </a:defRPr>
            </a:pPr>
            <a:r>
              <a:t>蒸馏动作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645920"/>
            <a:ext cx="109728" cy="109728"/>
          </a:xfrm>
          <a:prstGeom prst="ellipse">
            <a:avLst/>
          </a:prstGeom>
          <a:solidFill>
            <a:srgbClr val="49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892040" cy="3703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阶段摘要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合并重复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保留关键决策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F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2763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1D28"/>
                </a:solidFill>
              </a:defRPr>
            </a:pPr>
            <a:r>
              <a:t>收益</a:t>
            </a:r>
          </a:p>
        </p:txBody>
      </p:sp>
      <p:sp>
        <p:nvSpPr>
          <p:cNvPr id="12" name="Oval 11"/>
          <p:cNvSpPr/>
          <p:nvPr/>
        </p:nvSpPr>
        <p:spPr>
          <a:xfrm>
            <a:off x="6263640" y="1645920"/>
            <a:ext cx="109728" cy="109728"/>
          </a:xfrm>
          <a:prstGeom prst="ellipse">
            <a:avLst/>
          </a:prstGeom>
          <a:solidFill>
            <a:srgbClr val="2DB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011680"/>
            <a:ext cx="4892040" cy="3703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上下文更干净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Token 成本下降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回答稳定性提升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92240"/>
            <a:ext cx="11064240" cy="9144"/>
          </a:xfrm>
          <a:prstGeom prst="rect">
            <a:avLst/>
          </a:prstGeom>
          <a:solidFill>
            <a:srgbClr val="DF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36D85"/>
                </a:solidFill>
              </a:defRPr>
            </a:pPr>
            <a:r>
              <a:t>Agent Memory Builder Demo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5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核心能力3：记忆检索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0" y="128016"/>
            <a:ext cx="914400" cy="384048"/>
          </a:xfrm>
          <a:prstGeom prst="roundRect">
            <a:avLst/>
          </a:prstGeom>
          <a:solidFill>
            <a:srgbClr val="0E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36D85"/>
                </a:solidFill>
              </a:defRPr>
            </a:pPr>
            <a:r>
              <a:t>先回忆，再回答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F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1D28"/>
                </a:solidFill>
              </a:defRPr>
            </a:pPr>
            <a:r>
              <a:t>检索评分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645920"/>
            <a:ext cx="109728" cy="109728"/>
          </a:xfrm>
          <a:prstGeom prst="ellipse">
            <a:avLst/>
          </a:prstGeom>
          <a:solidFill>
            <a:srgbClr val="49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892040" cy="3703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关键词相关度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时间衰减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confidence 权重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F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2763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1D28"/>
                </a:solidFill>
              </a:defRPr>
            </a:pPr>
            <a:r>
              <a:t>注入策略</a:t>
            </a:r>
          </a:p>
        </p:txBody>
      </p:sp>
      <p:sp>
        <p:nvSpPr>
          <p:cNvPr id="12" name="Oval 11"/>
          <p:cNvSpPr/>
          <p:nvPr/>
        </p:nvSpPr>
        <p:spPr>
          <a:xfrm>
            <a:off x="6263640" y="1645920"/>
            <a:ext cx="109728" cy="109728"/>
          </a:xfrm>
          <a:prstGeom prst="ellipse">
            <a:avLst/>
          </a:prstGeom>
          <a:solidFill>
            <a:srgbClr val="2DB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011680"/>
            <a:ext cx="4892040" cy="3703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Top-K 注入 Prompt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按 type 分层注入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避免无关记忆污染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92240"/>
            <a:ext cx="11064240" cy="9144"/>
          </a:xfrm>
          <a:prstGeom prst="rect">
            <a:avLst/>
          </a:prstGeom>
          <a:solidFill>
            <a:srgbClr val="DF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36D85"/>
                </a:solidFill>
              </a:defRPr>
            </a:pPr>
            <a:r>
              <a:t>Agent Memory Builder Demo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5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核心能力4：记忆治理后台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0" y="128016"/>
            <a:ext cx="914400" cy="384048"/>
          </a:xfrm>
          <a:prstGeom prst="roundRect">
            <a:avLst/>
          </a:prstGeom>
          <a:solidFill>
            <a:srgbClr val="0E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36D85"/>
                </a:solidFill>
              </a:defRPr>
            </a:pPr>
            <a:r>
              <a:t>可视化 + 可操作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F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1D28"/>
                </a:solidFill>
              </a:defRPr>
            </a:pPr>
            <a:r>
              <a:t>可视化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645920"/>
            <a:ext cx="109728" cy="109728"/>
          </a:xfrm>
          <a:prstGeom prst="ellipse">
            <a:avLst/>
          </a:prstGeom>
          <a:solidFill>
            <a:srgbClr val="49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892040" cy="3703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会话记忆列表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类型分布统计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冲突记忆告警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F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2763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1D28"/>
                </a:solidFill>
              </a:defRPr>
            </a:pPr>
            <a:r>
              <a:t>可操作</a:t>
            </a:r>
          </a:p>
        </p:txBody>
      </p:sp>
      <p:sp>
        <p:nvSpPr>
          <p:cNvPr id="12" name="Oval 11"/>
          <p:cNvSpPr/>
          <p:nvPr/>
        </p:nvSpPr>
        <p:spPr>
          <a:xfrm>
            <a:off x="6263640" y="1645920"/>
            <a:ext cx="109728" cy="109728"/>
          </a:xfrm>
          <a:prstGeom prst="ellipse">
            <a:avLst/>
          </a:prstGeom>
          <a:solidFill>
            <a:srgbClr val="2DB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011680"/>
            <a:ext cx="4892040" cy="3703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单条删除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一键蒸馏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会话清理/重置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92240"/>
            <a:ext cx="11064240" cy="9144"/>
          </a:xfrm>
          <a:prstGeom prst="rect">
            <a:avLst/>
          </a:prstGeom>
          <a:solidFill>
            <a:srgbClr val="DF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36D85"/>
                </a:solidFill>
              </a:defRPr>
            </a:pPr>
            <a:r>
              <a:t>Agent Memory Builder Demo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5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效果对比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0" y="128016"/>
            <a:ext cx="914400" cy="384048"/>
          </a:xfrm>
          <a:prstGeom prst="roundRect">
            <a:avLst/>
          </a:prstGeom>
          <a:solidFill>
            <a:srgbClr val="0E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36D85"/>
                </a:solidFill>
              </a:defRPr>
            </a:pPr>
            <a:r>
              <a:t>改造前 vs 改造后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F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1D28"/>
                </a:solidFill>
              </a:defRPr>
            </a:pPr>
            <a:r>
              <a:t>改造前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645920"/>
            <a:ext cx="109728" cy="109728"/>
          </a:xfrm>
          <a:prstGeom prst="ellipse">
            <a:avLst/>
          </a:prstGeom>
          <a:solidFill>
            <a:srgbClr val="EB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892040" cy="3703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多轮对话遗忘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回答不连续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每次重复背景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F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2763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1D28"/>
                </a:solidFill>
              </a:defRPr>
            </a:pPr>
            <a:r>
              <a:t>改造后</a:t>
            </a:r>
          </a:p>
        </p:txBody>
      </p:sp>
      <p:sp>
        <p:nvSpPr>
          <p:cNvPr id="12" name="Oval 11"/>
          <p:cNvSpPr/>
          <p:nvPr/>
        </p:nvSpPr>
        <p:spPr>
          <a:xfrm>
            <a:off x="6263640" y="1645920"/>
            <a:ext cx="109728" cy="109728"/>
          </a:xfrm>
          <a:prstGeom prst="ellipse">
            <a:avLst/>
          </a:prstGeom>
          <a:solidFill>
            <a:srgbClr val="2DB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011680"/>
            <a:ext cx="4892040" cy="3703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上下文连续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回答更一致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任务可持续推进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92240"/>
            <a:ext cx="11064240" cy="9144"/>
          </a:xfrm>
          <a:prstGeom prst="rect">
            <a:avLst/>
          </a:prstGeom>
          <a:solidFill>
            <a:srgbClr val="DF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36D85"/>
                </a:solidFill>
              </a:defRPr>
            </a:pPr>
            <a:r>
              <a:t>Agent Memory Builder Demo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5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技术栈与落地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0" y="128016"/>
            <a:ext cx="914400" cy="384048"/>
          </a:xfrm>
          <a:prstGeom prst="roundRect">
            <a:avLst/>
          </a:prstGeom>
          <a:solidFill>
            <a:srgbClr val="0E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36D85"/>
                </a:solidFill>
              </a:defRPr>
            </a:pPr>
            <a:r>
              <a:t>可运行、可扩展、可演示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F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1D28"/>
                </a:solidFill>
              </a:defRPr>
            </a:pPr>
            <a:r>
              <a:t>技术栈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645920"/>
            <a:ext cx="109728" cy="109728"/>
          </a:xfrm>
          <a:prstGeom prst="ellipse">
            <a:avLst/>
          </a:prstGeom>
          <a:solidFill>
            <a:srgbClr val="49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892040" cy="3703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Spring Boot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LangChain4j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DeepSeek API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HTML/CSS/JS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F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2763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1D28"/>
                </a:solidFill>
              </a:defRPr>
            </a:pPr>
            <a:r>
              <a:t>工程化</a:t>
            </a:r>
          </a:p>
        </p:txBody>
      </p:sp>
      <p:sp>
        <p:nvSpPr>
          <p:cNvPr id="12" name="Oval 11"/>
          <p:cNvSpPr/>
          <p:nvPr/>
        </p:nvSpPr>
        <p:spPr>
          <a:xfrm>
            <a:off x="6263640" y="1645920"/>
            <a:ext cx="109728" cy="109728"/>
          </a:xfrm>
          <a:prstGeom prst="ellipse">
            <a:avLst/>
          </a:prstGeom>
          <a:solidFill>
            <a:srgbClr val="2DB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011680"/>
            <a:ext cx="4892040" cy="3703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一键启动脚本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管理后台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日志与异常兜底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可扩展 DB/向量库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92240"/>
            <a:ext cx="11064240" cy="9144"/>
          </a:xfrm>
          <a:prstGeom prst="rect">
            <a:avLst/>
          </a:prstGeom>
          <a:solidFill>
            <a:srgbClr val="DF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36D85"/>
                </a:solidFill>
              </a:defRPr>
            </a:pPr>
            <a:r>
              <a:t>Agent Memory Builder Demo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5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总结与下一步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0" y="128016"/>
            <a:ext cx="914400" cy="384048"/>
          </a:xfrm>
          <a:prstGeom prst="roundRect">
            <a:avLst/>
          </a:prstGeom>
          <a:solidFill>
            <a:srgbClr val="0E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36D85"/>
                </a:solidFill>
              </a:defRPr>
            </a:pPr>
            <a:r>
              <a:t>把记忆从黑盒变资产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F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1D28"/>
                </a:solidFill>
              </a:defRPr>
            </a:pPr>
            <a:r>
              <a:t>项目结论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645920"/>
            <a:ext cx="109728" cy="109728"/>
          </a:xfrm>
          <a:prstGeom prst="ellipse">
            <a:avLst/>
          </a:prstGeom>
          <a:solidFill>
            <a:srgbClr val="49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892040" cy="3703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实现写入-蒸馏-检索-治理闭环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显著提升长任务稳定性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具备校招项目展示价值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FE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2763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1D28"/>
                </a:solidFill>
              </a:defRPr>
            </a:pPr>
            <a:r>
              <a:t>下一步规划</a:t>
            </a:r>
          </a:p>
        </p:txBody>
      </p:sp>
      <p:sp>
        <p:nvSpPr>
          <p:cNvPr id="12" name="Oval 11"/>
          <p:cNvSpPr/>
          <p:nvPr/>
        </p:nvSpPr>
        <p:spPr>
          <a:xfrm>
            <a:off x="6263640" y="1645920"/>
            <a:ext cx="109728" cy="109728"/>
          </a:xfrm>
          <a:prstGeom prst="ellipse">
            <a:avLst/>
          </a:prstGeom>
          <a:solidFill>
            <a:srgbClr val="2DB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011680"/>
            <a:ext cx="4892040" cy="3703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向量语义检索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冲突自动修复</a:t>
            </a:r>
          </a:p>
          <a:p>
            <a:pPr>
              <a:spcAft>
                <a:spcPts val="700"/>
              </a:spcAft>
              <a:defRPr sz="1300">
                <a:solidFill>
                  <a:srgbClr val="181D28"/>
                </a:solidFill>
              </a:defRPr>
            </a:pPr>
            <a:r>
              <a:t>• 多智能体共享记忆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92240"/>
            <a:ext cx="11064240" cy="9144"/>
          </a:xfrm>
          <a:prstGeom prst="rect">
            <a:avLst/>
          </a:prstGeom>
          <a:solidFill>
            <a:srgbClr val="DF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36D85"/>
                </a:solidFill>
              </a:defRPr>
            </a:pPr>
            <a:r>
              <a:t>Agent Memory Builder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